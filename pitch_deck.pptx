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0" y="0"/>
            <a:ext cx="2587752" cy="6858000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457200"/>
            <a:ext cx="2011680" cy="640080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[COMPANY LOGO]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0A500"/>
                </a:solidFill>
              </a:rPr>
              <a:t>CORPORATE FINANCING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[Company Name]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8D6E5"/>
                </a:solidFill>
              </a:rPr>
              <a:t>Investor Pitch Deck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703320"/>
            <a:ext cx="3200400" cy="3657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6E5"/>
                </a:solidFill>
              </a:rPr>
              <a:t>[City, Country]  ·  [Month Year]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92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8D6E5"/>
                </a:solidFill>
              </a:rPr>
              <a:t>CONFIDENTIAL — FOR DISCUSSION PURPOSES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228600"/>
            <a:ext cx="1737360" cy="292608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22860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8D6E5"/>
                </a:solidFill>
              </a:rPr>
              <a:t>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005840"/>
            <a:ext cx="10972800" cy="27432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3566160" cy="438912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3566160" cy="475488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8988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🏢  The Company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116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6E5"/>
                </a:solidFill>
              </a:rPr>
              <a:t>• [Company Name] is a [industry] company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688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6E5"/>
                </a:solidFill>
              </a:rPr>
              <a:t>• Founded [year] | HQ: [location]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26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6E5"/>
                </a:solidFill>
              </a:rPr>
              <a:t>• Serving [target market] globally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371600"/>
            <a:ext cx="3566160" cy="438912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371600"/>
            <a:ext cx="3566160" cy="475488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38988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💰  The 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0116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6E5"/>
                </a:solidFill>
              </a:rPr>
              <a:t>• Raising  [$ X M] in [debt / equity]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4688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6E5"/>
                </a:solidFill>
              </a:rPr>
              <a:t>• Use of funds: growth, capex, M&amp;A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926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6E5"/>
                </a:solidFill>
              </a:rPr>
              <a:t>• Target close: [Q? 20??]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371600"/>
            <a:ext cx="3566160" cy="438912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371600"/>
            <a:ext cx="3566160" cy="475488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138988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📈  The Opportunity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0116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6E5"/>
                </a:solidFill>
              </a:rPr>
              <a:t>• Market size: $[X]B TAM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4688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6E5"/>
                </a:solidFill>
              </a:rPr>
              <a:t>• [X]% CAGR projected through 20??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926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6E5"/>
                </a:solidFill>
              </a:rPr>
              <a:t>• Strong competitive moat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228600"/>
            <a:ext cx="1737360" cy="292608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22860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8D6E5"/>
                </a:solidFill>
              </a:rPr>
              <a:t>3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 &amp; Opportunity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005840"/>
            <a:ext cx="10972800" cy="27432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</a:rPr>
              <a:t>Current market pain points: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45920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[Pain point 1 — e.g. fragmented market, high costs, inefficiency]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93392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[Pain point 2 — e.g. lack of technology, regulatory burden]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40864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 [Pain point 3 — e.g. underserved customer segment]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971800"/>
            <a:ext cx="11247120" cy="18288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154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</a:rPr>
              <a:t>The Opportunity: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657600"/>
            <a:ext cx="3383280" cy="256032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0233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0A500"/>
                </a:solidFill>
              </a:rPr>
              <a:t>$[X]B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02920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6E5"/>
                </a:solidFill>
              </a:rPr>
              <a:t>Total Addressable
Market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59" y="3657600"/>
            <a:ext cx="3383280" cy="256032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1959" y="40233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0A500"/>
                </a:solidFill>
              </a:rPr>
              <a:t>[X]%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59" y="502920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6E5"/>
                </a:solidFill>
              </a:rPr>
              <a:t>Projected Annual
Growth Rate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3657600"/>
            <a:ext cx="3383280" cy="256032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0" y="402336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0A500"/>
                </a:solidFill>
              </a:rPr>
              <a:t>[X]M+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502920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6E5"/>
                </a:solidFill>
              </a:rPr>
              <a:t>Potential
Customers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228600"/>
            <a:ext cx="1737360" cy="292608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22860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8D6E5"/>
                </a:solidFill>
              </a:rPr>
              <a:t>4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Our Solution &amp; Business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005840"/>
            <a:ext cx="10972800" cy="27432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0A500"/>
                </a:solidFill>
              </a:rPr>
              <a:t>[One-sentence value proposition: We help [target customer] to [achieve outcome] by [unique approach].]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182880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286000"/>
            <a:ext cx="5394960" cy="384048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1343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Product / 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8892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6E5"/>
                </a:solidFill>
              </a:rPr>
              <a:t>[Describe core offering, technology or IP]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286000"/>
            <a:ext cx="5394960" cy="182880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2286000"/>
            <a:ext cx="5394960" cy="384048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Revenue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78892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6E5"/>
                </a:solidFill>
              </a:rPr>
              <a:t>[Subscription / SaaS / transaction fee / licensing / etc.]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389120"/>
            <a:ext cx="5394960" cy="182880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389120"/>
            <a:ext cx="5394960" cy="384048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41655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Key Differentiators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89204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6E5"/>
                </a:solidFill>
              </a:rPr>
              <a:t>[What makes us defensible vs. competitors]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4389120"/>
            <a:ext cx="5394960" cy="182880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4389120"/>
            <a:ext cx="5394960" cy="384048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41655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Go-to-Market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89204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6E5"/>
                </a:solidFill>
              </a:rPr>
              <a:t>[Sales channels, partnerships, distribution strategy]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228600"/>
            <a:ext cx="1737360" cy="292608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22860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8D6E5"/>
                </a:solidFill>
              </a:rPr>
              <a:t>5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Market Size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005840"/>
            <a:ext cx="10972800" cy="27432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10972800" cy="132588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371600"/>
            <a:ext cx="1645920" cy="1325880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4630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TAM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1417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A500"/>
                </a:solidFill>
              </a:rPr>
              <a:t>$[X]B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01168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6E5"/>
                </a:solidFill>
              </a:rPr>
              <a:t>Total Addressable Market — global market for [industry]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926080"/>
            <a:ext cx="9601200" cy="132588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926080"/>
            <a:ext cx="1645920" cy="1325880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0175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SAM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2971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A500"/>
                </a:solidFill>
              </a:rPr>
              <a:t>$[X]B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356616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6E5"/>
                </a:solidFill>
              </a:rPr>
              <a:t>Serviceable Available Market — segments we can reach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480560"/>
            <a:ext cx="8229600" cy="132588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480560"/>
            <a:ext cx="1645920" cy="1325880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572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SOM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45262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A500"/>
                </a:solidFill>
              </a:rPr>
              <a:t>$[X]M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512064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6E5"/>
                </a:solidFill>
              </a:rPr>
              <a:t>Serviceable Obtainable Market — realistic near-term capture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228600"/>
            <a:ext cx="1737360" cy="292608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22860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8D6E5"/>
                </a:solidFill>
              </a:rPr>
              <a:t>6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Traction &amp; Key Milestones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005840"/>
            <a:ext cx="10972800" cy="27432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280160"/>
            <a:ext cx="2560320" cy="182880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280160"/>
            <a:ext cx="2560320" cy="3657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7373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0A500"/>
                </a:solidFill>
              </a:rPr>
              <a:t>[$ X M]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060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6E5"/>
                </a:solidFill>
              </a:rPr>
              <a:t>Revenue
(LTM)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280160"/>
            <a:ext cx="2560320" cy="182880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280160"/>
            <a:ext cx="2560320" cy="3657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7373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0A500"/>
                </a:solidFill>
              </a:rPr>
              <a:t>[X]%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6060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6E5"/>
                </a:solidFill>
              </a:rPr>
              <a:t>YoY Revenue
Growth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1280160"/>
            <a:ext cx="2560320" cy="182880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1280160"/>
            <a:ext cx="2560320" cy="3657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17373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0A500"/>
                </a:solidFill>
              </a:rPr>
              <a:t>[X]k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6060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6E5"/>
                </a:solidFill>
              </a:rPr>
              <a:t>Active
Customers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840" y="1280160"/>
            <a:ext cx="2560320" cy="182880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06840" y="1280160"/>
            <a:ext cx="2560320" cy="3657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6840" y="17373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0A500"/>
                </a:solidFill>
              </a:rPr>
              <a:t>[X]%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26060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6E5"/>
                </a:solidFill>
              </a:rPr>
              <a:t>Gross
Margin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429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A500"/>
                </a:solidFill>
              </a:rPr>
              <a:t>Key Milestones: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886200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[20??] — Founded / product launched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251960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[20??] — First $[X]M revenue milestone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617720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[20??] — Expansion to [market/region]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983480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[20??] — Strategic partnership with [partner]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349240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 [20?? target] — This financing round closes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228600"/>
            <a:ext cx="1737360" cy="292608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22860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FINANCIALS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8D6E5"/>
                </a:solidFill>
              </a:rPr>
              <a:t>7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Financial Projections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005840"/>
            <a:ext cx="10972800" cy="27432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43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8D6E5"/>
                </a:solidFill>
              </a:rPr>
              <a:t>5-Year Forecast  (USD millions)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554480"/>
            <a:ext cx="2743200" cy="384048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57276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3240" y="1554480"/>
            <a:ext cx="1645920" cy="384048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157276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Year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59" y="1554480"/>
            <a:ext cx="1645920" cy="384048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599" y="157276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Year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79" y="1554480"/>
            <a:ext cx="1645920" cy="384048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19" y="157276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Year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1000" y="1554480"/>
            <a:ext cx="1645920" cy="384048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157276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Year 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46919" y="1554480"/>
            <a:ext cx="1645920" cy="384048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59" y="157276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Year 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1938528"/>
            <a:ext cx="2743200" cy="38404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195681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6E5"/>
                </a:solidFill>
              </a:rPr>
              <a:t>Revenue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63240" y="1938528"/>
            <a:ext cx="1645920" cy="38404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54680" y="195681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A500"/>
                </a:solidFill>
              </a:rPr>
              <a:t>$[X]M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09159" y="1938528"/>
            <a:ext cx="1645920" cy="38404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599" y="195681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A500"/>
                </a:solidFill>
              </a:rPr>
              <a:t>$[X]M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79" y="1938528"/>
            <a:ext cx="1645920" cy="38404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19" y="195681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A500"/>
                </a:solidFill>
              </a:rPr>
              <a:t>$[X]M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1000" y="1938528"/>
            <a:ext cx="1645920" cy="38404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92440" y="195681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A500"/>
                </a:solidFill>
              </a:rPr>
              <a:t>$[X]M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46919" y="1938528"/>
            <a:ext cx="1645920" cy="38404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38359" y="195681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A500"/>
                </a:solidFill>
              </a:rPr>
              <a:t>$[X]M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2340864"/>
            <a:ext cx="2743200" cy="384048"/>
          </a:xfrm>
          <a:prstGeom prst="rect">
            <a:avLst/>
          </a:prstGeom>
          <a:solidFill>
            <a:srgbClr val="1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79" y="235915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6E5"/>
                </a:solidFill>
              </a:rPr>
              <a:t>Gross Profit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063240" y="2340864"/>
            <a:ext cx="1645920" cy="384048"/>
          </a:xfrm>
          <a:prstGeom prst="rect">
            <a:avLst/>
          </a:prstGeom>
          <a:solidFill>
            <a:srgbClr val="1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54680" y="235915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A500"/>
                </a:solidFill>
              </a:rPr>
              <a:t>$[X]M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709159" y="2340864"/>
            <a:ext cx="1645920" cy="384048"/>
          </a:xfrm>
          <a:prstGeom prst="rect">
            <a:avLst/>
          </a:prstGeom>
          <a:solidFill>
            <a:srgbClr val="1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00599" y="235915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A500"/>
                </a:solidFill>
              </a:rPr>
              <a:t>$[X]M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79" y="2340864"/>
            <a:ext cx="1645920" cy="384048"/>
          </a:xfrm>
          <a:prstGeom prst="rect">
            <a:avLst/>
          </a:prstGeom>
          <a:solidFill>
            <a:srgbClr val="1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19" y="235915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A500"/>
                </a:solidFill>
              </a:rPr>
              <a:t>$[X]M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01000" y="2340864"/>
            <a:ext cx="1645920" cy="384048"/>
          </a:xfrm>
          <a:prstGeom prst="rect">
            <a:avLst/>
          </a:prstGeom>
          <a:solidFill>
            <a:srgbClr val="1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92440" y="235915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A500"/>
                </a:solidFill>
              </a:rPr>
              <a:t>$[X]M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46919" y="2340864"/>
            <a:ext cx="1645920" cy="384048"/>
          </a:xfrm>
          <a:prstGeom prst="rect">
            <a:avLst/>
          </a:prstGeom>
          <a:solidFill>
            <a:srgbClr val="1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38359" y="235915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A500"/>
                </a:solidFill>
              </a:rPr>
              <a:t>$[X]M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2743200"/>
            <a:ext cx="2743200" cy="38404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79" y="276148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6E5"/>
                </a:solidFill>
              </a:rPr>
              <a:t>EBITDA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63240" y="2743200"/>
            <a:ext cx="1645920" cy="38404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154680" y="27614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A500"/>
                </a:solidFill>
              </a:rPr>
              <a:t>$[X]M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09159" y="2743200"/>
            <a:ext cx="1645920" cy="38404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00599" y="27614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A500"/>
                </a:solidFill>
              </a:rPr>
              <a:t>$[X]M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55079" y="2743200"/>
            <a:ext cx="1645920" cy="38404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46519" y="27614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A500"/>
                </a:solidFill>
              </a:rPr>
              <a:t>$[X]M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01000" y="2743200"/>
            <a:ext cx="1645920" cy="38404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92440" y="27614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A500"/>
                </a:solidFill>
              </a:rPr>
              <a:t>$[X]M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646919" y="2743200"/>
            <a:ext cx="1645920" cy="38404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738359" y="276148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A500"/>
                </a:solidFill>
              </a:rPr>
              <a:t>$[X]M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3145536"/>
            <a:ext cx="2743200" cy="384048"/>
          </a:xfrm>
          <a:prstGeom prst="rect">
            <a:avLst/>
          </a:prstGeom>
          <a:solidFill>
            <a:srgbClr val="1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79" y="3163824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6E5"/>
                </a:solidFill>
              </a:rPr>
              <a:t>Net Income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063240" y="3145536"/>
            <a:ext cx="1645920" cy="384048"/>
          </a:xfrm>
          <a:prstGeom prst="rect">
            <a:avLst/>
          </a:prstGeom>
          <a:solidFill>
            <a:srgbClr val="1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154680" y="316382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A500"/>
                </a:solidFill>
              </a:rPr>
              <a:t>$[X]M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09159" y="3145536"/>
            <a:ext cx="1645920" cy="384048"/>
          </a:xfrm>
          <a:prstGeom prst="rect">
            <a:avLst/>
          </a:prstGeom>
          <a:solidFill>
            <a:srgbClr val="1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800599" y="316382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A500"/>
                </a:solidFill>
              </a:rPr>
              <a:t>$[X]M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5079" y="3145536"/>
            <a:ext cx="1645920" cy="384048"/>
          </a:xfrm>
          <a:prstGeom prst="rect">
            <a:avLst/>
          </a:prstGeom>
          <a:solidFill>
            <a:srgbClr val="1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46519" y="316382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A500"/>
                </a:solidFill>
              </a:rPr>
              <a:t>$[X]M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001000" y="3145536"/>
            <a:ext cx="1645920" cy="384048"/>
          </a:xfrm>
          <a:prstGeom prst="rect">
            <a:avLst/>
          </a:prstGeom>
          <a:solidFill>
            <a:srgbClr val="1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92440" y="316382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A500"/>
                </a:solidFill>
              </a:rPr>
              <a:t>$[X]M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646919" y="3145536"/>
            <a:ext cx="1645920" cy="384048"/>
          </a:xfrm>
          <a:prstGeom prst="rect">
            <a:avLst/>
          </a:prstGeom>
          <a:solidFill>
            <a:srgbClr val="1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738359" y="316382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A500"/>
                </a:solidFill>
              </a:rPr>
              <a:t>$[X]M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0040" y="3547872"/>
            <a:ext cx="2743200" cy="38404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1479" y="356616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6E5"/>
                </a:solidFill>
              </a:rPr>
              <a:t>Gross Margin 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63240" y="3547872"/>
            <a:ext cx="1645920" cy="38404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154680" y="35661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A500"/>
                </a:solidFill>
              </a:rPr>
              <a:t>[X]%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09159" y="3547872"/>
            <a:ext cx="1645920" cy="38404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800599" y="35661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A500"/>
                </a:solidFill>
              </a:rPr>
              <a:t>[X]%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55079" y="3547872"/>
            <a:ext cx="1645920" cy="38404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46519" y="35661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A500"/>
                </a:solidFill>
              </a:rPr>
              <a:t>[X]%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01000" y="3547872"/>
            <a:ext cx="1645920" cy="38404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092440" y="35661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A500"/>
                </a:solidFill>
              </a:rPr>
              <a:t>[X]%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646919" y="3547872"/>
            <a:ext cx="1645920" cy="384048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738359" y="356616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0A500"/>
                </a:solidFill>
              </a:rPr>
              <a:t>[X]%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20040" y="6355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8D6E5"/>
                </a:solidFill>
              </a:rPr>
              <a:t>* Projections are forward-looking estimates. Actual results may vary.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228600"/>
            <a:ext cx="1737360" cy="292608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22860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USE OF FUNDS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8D6E5"/>
                </a:solidFill>
              </a:rPr>
              <a:t>8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Use of Funds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005840"/>
            <a:ext cx="10972800" cy="27432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0A500"/>
                </a:solidFill>
              </a:rPr>
              <a:t>Total Raise: $[X] Million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1097280" cy="685800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7451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[X]%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945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6E5"/>
                </a:solidFill>
              </a:rPr>
              <a:t>[$ X M]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18288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Product &amp; Technology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176272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6E5"/>
                </a:solidFill>
              </a:rPr>
              <a:t>R&amp;D, engineering headcount, platform development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724912"/>
            <a:ext cx="1097280" cy="685800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7706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[X]%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0906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6E5"/>
                </a:solidFill>
              </a:rPr>
              <a:t>[$ X M]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272491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Sales &amp; Marketing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072384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6E5"/>
                </a:solidFill>
              </a:rPr>
              <a:t>Customer acquisition, brand building, partnerships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621024"/>
            <a:ext cx="1097280" cy="685800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66674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[X]%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98678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6E5"/>
                </a:solidFill>
              </a:rPr>
              <a:t>[$ X M]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621024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Operations &amp; CapEx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3968496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6E5"/>
                </a:solidFill>
              </a:rPr>
              <a:t>Infrastructure, equipment, facilities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517136"/>
            <a:ext cx="1097280" cy="685800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562855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[X]%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88289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6E5"/>
                </a:solidFill>
              </a:rPr>
              <a:t>[$ X M]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4517136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Working Capital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864607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6E5"/>
                </a:solidFill>
              </a:rPr>
              <a:t>Inventory, receivables, operational buffer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413248"/>
            <a:ext cx="1097280" cy="685800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4589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[X]%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7790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6E5"/>
                </a:solidFill>
              </a:rPr>
              <a:t>[$ X M]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541324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General &amp; Admin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5760720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6E5"/>
                </a:solidFill>
              </a:rPr>
              <a:t>Corporate overhead, legal, compliance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228600"/>
            <a:ext cx="1737360" cy="292608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22860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COMPETITION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8D6E5"/>
                </a:solidFill>
              </a:rPr>
              <a:t>9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Competitive Landscape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005840"/>
            <a:ext cx="10972800" cy="27432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3840480" cy="411480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389888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371600"/>
            <a:ext cx="1828800" cy="41148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38988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[Company]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371600"/>
            <a:ext cx="1828800" cy="411480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38988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Competitor 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1371600"/>
            <a:ext cx="1828800" cy="411480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138988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Competitor 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29800" y="1371600"/>
            <a:ext cx="1828800" cy="411480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21240" y="138988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Competitor 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783080"/>
            <a:ext cx="3840480" cy="420624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1819656"/>
            <a:ext cx="3749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6E5"/>
                </a:solidFill>
              </a:rPr>
              <a:t>[Key differentiator 1]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1783080"/>
            <a:ext cx="1828800" cy="420624"/>
          </a:xfrm>
          <a:prstGeom prst="rect">
            <a:avLst/>
          </a:prstGeom>
          <a:solidFill>
            <a:srgbClr val="0D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181965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A500"/>
                </a:solidFill>
              </a:rPr>
              <a:t>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1783080"/>
            <a:ext cx="1828800" cy="420624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181965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ADE80"/>
                </a:solidFill>
              </a:rPr>
              <a:t>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1000" y="1783080"/>
            <a:ext cx="1828800" cy="420624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2440" y="181965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87171"/>
                </a:solidFill>
              </a:rPr>
              <a:t>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829800" y="1783080"/>
            <a:ext cx="1828800" cy="420624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21240" y="181965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87171"/>
                </a:solidFill>
              </a:rPr>
              <a:t>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2221991"/>
            <a:ext cx="3840480" cy="420624"/>
          </a:xfrm>
          <a:prstGeom prst="rect">
            <a:avLst/>
          </a:prstGeom>
          <a:solidFill>
            <a:srgbClr val="1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2258568"/>
            <a:ext cx="3749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6E5"/>
                </a:solidFill>
              </a:rPr>
              <a:t>[Key differentiator 2]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2221991"/>
            <a:ext cx="1828800" cy="420624"/>
          </a:xfrm>
          <a:prstGeom prst="rect">
            <a:avLst/>
          </a:prstGeom>
          <a:solidFill>
            <a:srgbClr val="0D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34840" y="225856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A500"/>
                </a:solidFill>
              </a:rPr>
              <a:t>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2221991"/>
            <a:ext cx="1828800" cy="420624"/>
          </a:xfrm>
          <a:prstGeom prst="rect">
            <a:avLst/>
          </a:prstGeom>
          <a:solidFill>
            <a:srgbClr val="1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225856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87171"/>
                </a:solidFill>
              </a:rPr>
              <a:t>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1000" y="2221991"/>
            <a:ext cx="1828800" cy="420624"/>
          </a:xfrm>
          <a:prstGeom prst="rect">
            <a:avLst/>
          </a:prstGeom>
          <a:solidFill>
            <a:srgbClr val="1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92440" y="225856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ADE80"/>
                </a:solidFill>
              </a:rPr>
              <a:t>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29800" y="2221991"/>
            <a:ext cx="1828800" cy="420624"/>
          </a:xfrm>
          <a:prstGeom prst="rect">
            <a:avLst/>
          </a:prstGeom>
          <a:solidFill>
            <a:srgbClr val="1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21240" y="225856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87171"/>
                </a:solidFill>
              </a:rPr>
              <a:t>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2660904"/>
            <a:ext cx="3840480" cy="420624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2697480"/>
            <a:ext cx="3749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6E5"/>
                </a:solidFill>
              </a:rPr>
              <a:t>[Key differentiator 3]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43400" y="2660904"/>
            <a:ext cx="1828800" cy="420624"/>
          </a:xfrm>
          <a:prstGeom prst="rect">
            <a:avLst/>
          </a:prstGeom>
          <a:solidFill>
            <a:srgbClr val="0D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34840" y="269748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A500"/>
                </a:solidFill>
              </a:rPr>
              <a:t>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2660904"/>
            <a:ext cx="1828800" cy="420624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3640" y="269748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87171"/>
                </a:solidFill>
              </a:rPr>
              <a:t>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01000" y="2660904"/>
            <a:ext cx="1828800" cy="420624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92440" y="269748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87171"/>
                </a:solidFill>
              </a:rPr>
              <a:t>✘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829800" y="2660904"/>
            <a:ext cx="1828800" cy="420624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21240" y="269748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ADE80"/>
                </a:solidFill>
              </a:rPr>
              <a:t>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3099815"/>
            <a:ext cx="3840480" cy="420624"/>
          </a:xfrm>
          <a:prstGeom prst="rect">
            <a:avLst/>
          </a:prstGeom>
          <a:solidFill>
            <a:srgbClr val="1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" y="3136391"/>
            <a:ext cx="3749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6E5"/>
                </a:solidFill>
              </a:rPr>
              <a:t>[Key differentiator 4]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43400" y="3099815"/>
            <a:ext cx="1828800" cy="420624"/>
          </a:xfrm>
          <a:prstGeom prst="rect">
            <a:avLst/>
          </a:prstGeom>
          <a:solidFill>
            <a:srgbClr val="0D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34840" y="3136391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A500"/>
                </a:solidFill>
              </a:rPr>
              <a:t>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72200" y="3099815"/>
            <a:ext cx="1828800" cy="420624"/>
          </a:xfrm>
          <a:prstGeom prst="rect">
            <a:avLst/>
          </a:prstGeom>
          <a:solidFill>
            <a:srgbClr val="1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63640" y="3136391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87171"/>
                </a:solidFill>
              </a:rPr>
              <a:t>✘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01000" y="3099815"/>
            <a:ext cx="1828800" cy="420624"/>
          </a:xfrm>
          <a:prstGeom prst="rect">
            <a:avLst/>
          </a:prstGeom>
          <a:solidFill>
            <a:srgbClr val="1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92440" y="3136391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87171"/>
                </a:solidFill>
              </a:rPr>
              <a:t>✘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829800" y="3099815"/>
            <a:ext cx="1828800" cy="420624"/>
          </a:xfrm>
          <a:prstGeom prst="rect">
            <a:avLst/>
          </a:prstGeom>
          <a:solidFill>
            <a:srgbClr val="1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921240" y="3136391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87171"/>
                </a:solidFill>
              </a:rPr>
              <a:t>✘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2920" y="3538728"/>
            <a:ext cx="3840480" cy="420624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4360" y="3575304"/>
            <a:ext cx="3749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6E5"/>
                </a:solidFill>
              </a:rPr>
              <a:t>Price competitiveness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43400" y="3538728"/>
            <a:ext cx="1828800" cy="420624"/>
          </a:xfrm>
          <a:prstGeom prst="rect">
            <a:avLst/>
          </a:prstGeom>
          <a:solidFill>
            <a:srgbClr val="0D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434840" y="357530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0A500"/>
                </a:solidFill>
              </a:rPr>
              <a:t>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72200" y="3538728"/>
            <a:ext cx="1828800" cy="420624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63640" y="357530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87171"/>
                </a:solidFill>
              </a:rPr>
              <a:t>✘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001000" y="3538728"/>
            <a:ext cx="1828800" cy="420624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092440" y="357530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ADE80"/>
                </a:solidFill>
              </a:rPr>
              <a:t>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829800" y="3538728"/>
            <a:ext cx="1828800" cy="420624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921240" y="357530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ADE80"/>
                </a:solidFill>
              </a:rPr>
              <a:t>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228600"/>
            <a:ext cx="1737360" cy="292608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22860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8D6E5"/>
                </a:solidFill>
              </a:rPr>
              <a:t>10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Leadership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005840"/>
            <a:ext cx="10972800" cy="27432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5394960" cy="192024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645920"/>
            <a:ext cx="822960" cy="822960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64592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155448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[Name]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96596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A500"/>
                </a:solidFill>
              </a:rPr>
              <a:t>Chief Executive Officer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5603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6E5"/>
                </a:solidFill>
              </a:rPr>
              <a:t>[Background: former CEO of X, X years in industry, MBA from Y]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371600"/>
            <a:ext cx="5394960" cy="192024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46520" y="1645920"/>
            <a:ext cx="822960" cy="822960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7" y="164592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155448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[Name]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196596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A500"/>
                </a:solidFill>
              </a:rPr>
              <a:t>Chief Financial Officer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5603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6E5"/>
                </a:solidFill>
              </a:rPr>
              <a:t>[Background: ex-investment banker, CPA, prior CFO experience]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657600"/>
            <a:ext cx="5394960" cy="192024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931920"/>
            <a:ext cx="822960" cy="822960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393192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384048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[Name]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25196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A500"/>
                </a:solidFill>
              </a:rPr>
              <a:t>Chief Technology Officer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8463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6E5"/>
                </a:solidFill>
              </a:rPr>
              <a:t>[Background: engineering PhD, previously VP Eng at X, Y patents]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657600"/>
            <a:ext cx="5394960" cy="192024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46520" y="3931920"/>
            <a:ext cx="822960" cy="822960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7" y="393192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84048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[Name]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425196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A500"/>
                </a:solidFill>
              </a:rPr>
              <a:t>Chief Revenue Officer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8463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6E5"/>
                </a:solidFill>
              </a:rPr>
              <a:t>[Background: built $Xm sales team at X, deep industry network]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989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</a:rPr>
              <a:t>Advisory Board: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6E5"/>
                </a:solidFill>
              </a:rPr>
              <a:t>[Advisor 1] — [Relevant expertise]  ·  [Advisor 2] — [Relevant expertise]  ·  [Advisor 3] — [Relevant expertise]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228600"/>
            <a:ext cx="1737360" cy="292608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22860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RISKS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8D6E5"/>
                </a:solidFill>
              </a:rPr>
              <a:t>11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Risks &amp; Mitigations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005840"/>
            <a:ext cx="10972800" cy="27432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188720"/>
            <a:ext cx="4114800" cy="365760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0" y="1188720"/>
            <a:ext cx="3566160" cy="365760"/>
          </a:xfrm>
          <a:prstGeom prst="rect">
            <a:avLst/>
          </a:prstGeom>
          <a:solidFill>
            <a:srgbClr val="7C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58200" y="1188720"/>
            <a:ext cx="3383280" cy="365760"/>
          </a:xfrm>
          <a:prstGeom prst="rect">
            <a:avLst/>
          </a:prstGeom>
          <a:solidFill>
            <a:srgbClr val="1A5C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1887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Risk 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188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Risk Description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Mitigation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554480"/>
            <a:ext cx="4114800" cy="77724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0" y="1554480"/>
            <a:ext cx="3566160" cy="77724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58200" y="1554480"/>
            <a:ext cx="3383280" cy="77724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160020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</a:rPr>
              <a:t>Market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160020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6E5"/>
                </a:solidFill>
              </a:rPr>
              <a:t>[Description of market/demand risk]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1600200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DE80"/>
                </a:solidFill>
              </a:rPr>
              <a:t>[Mitigation strategy: diversification, contracts, etc.]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395728"/>
            <a:ext cx="4114800" cy="777240"/>
          </a:xfrm>
          <a:prstGeom prst="rect">
            <a:avLst/>
          </a:prstGeom>
          <a:solidFill>
            <a:srgbClr val="1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54880" y="2395728"/>
            <a:ext cx="3566160" cy="777240"/>
          </a:xfrm>
          <a:prstGeom prst="rect">
            <a:avLst/>
          </a:prstGeom>
          <a:solidFill>
            <a:srgbClr val="1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58200" y="2395728"/>
            <a:ext cx="3383280" cy="777240"/>
          </a:xfrm>
          <a:prstGeom prst="rect">
            <a:avLst/>
          </a:prstGeom>
          <a:solidFill>
            <a:srgbClr val="1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244144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</a:rPr>
              <a:t>Execution 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2441448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6E5"/>
                </a:solidFill>
              </a:rPr>
              <a:t>[Operational or delivery risk]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2441448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DE80"/>
                </a:solidFill>
              </a:rPr>
              <a:t>[Mitigation: experienced team, phased milestones]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236976"/>
            <a:ext cx="4114800" cy="77724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54880" y="3236976"/>
            <a:ext cx="3566160" cy="77724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58200" y="3236976"/>
            <a:ext cx="3383280" cy="77724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328269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</a:rPr>
              <a:t>Regulatory 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3282696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6E5"/>
                </a:solidFill>
              </a:rPr>
              <a:t>[Compliance or licensing risk]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3282696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DE80"/>
                </a:solidFill>
              </a:rPr>
              <a:t>[Mitigation: legal counsel, proactive engagement]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078224"/>
            <a:ext cx="4114800" cy="777240"/>
          </a:xfrm>
          <a:prstGeom prst="rect">
            <a:avLst/>
          </a:prstGeom>
          <a:solidFill>
            <a:srgbClr val="1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754880" y="4078224"/>
            <a:ext cx="3566160" cy="777240"/>
          </a:xfrm>
          <a:prstGeom prst="rect">
            <a:avLst/>
          </a:prstGeom>
          <a:solidFill>
            <a:srgbClr val="1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58200" y="4078224"/>
            <a:ext cx="3383280" cy="777240"/>
          </a:xfrm>
          <a:prstGeom prst="rect">
            <a:avLst/>
          </a:prstGeom>
          <a:solidFill>
            <a:srgbClr val="1A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4123944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</a:rPr>
              <a:t>Financial Risk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4123944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6E5"/>
                </a:solidFill>
              </a:rPr>
              <a:t>[Liquidity, FX, interest rate risk]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9640" y="4123944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DE80"/>
                </a:solidFill>
              </a:rPr>
              <a:t>[Mitigation: hedging, covenant structure, reserves]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919472"/>
            <a:ext cx="4114800" cy="77724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754880" y="4919472"/>
            <a:ext cx="3566160" cy="77724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458200" y="4919472"/>
            <a:ext cx="3383280" cy="77724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496519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</a:rPr>
              <a:t>Competitive Risk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4965192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6E5"/>
                </a:solidFill>
              </a:rPr>
              <a:t>[New entrants or incumbent response]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49640" y="4965192"/>
            <a:ext cx="3200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DE80"/>
                </a:solidFill>
              </a:rPr>
              <a:t>[Mitigation: IP protection, customer lock-in, speed]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0" y="0"/>
            <a:ext cx="3959352" cy="6858000"/>
          </a:xfrm>
          <a:prstGeom prst="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0" y="0"/>
            <a:ext cx="2130552" cy="6858000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A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8D6E5"/>
                </a:solidFill>
              </a:rPr>
              <a:t>12 /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F0A500"/>
                </a:solidFill>
              </a:rPr>
              <a:t>THE 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Invest in [Company Name]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606040"/>
            <a:ext cx="3657600" cy="3657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6E5"/>
                </a:solidFill>
              </a:rPr>
              <a:t>Raise Amount: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834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$[X] Million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9300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6E5"/>
                </a:solidFill>
              </a:rPr>
              <a:t>Instrument: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49300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[Equity / Convertible Note / Term Loan]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15137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6E5"/>
                </a:solidFill>
              </a:rPr>
              <a:t>Valuation: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15137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$[Pre-money / Post-money] [X]M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80974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6E5"/>
                </a:solidFill>
              </a:rPr>
              <a:t>Target Close: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80974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[Month Year]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4681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6E5"/>
                </a:solidFill>
              </a:rPr>
              <a:t>Lead Investor: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546811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[Open / Anchor investor name]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89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</a:rPr>
              <a:t>Contact 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6E5"/>
                </a:solidFill>
              </a:rPr>
              <a:t>[Name]  ·  [email@company.com]  ·  [+XX XXX XXX XXXX]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