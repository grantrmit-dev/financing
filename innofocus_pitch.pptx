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57200"/>
            <a:ext cx="29260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innOFocus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00B4D8"/>
                </a:solidFill>
              </a:rPr>
              <a:t>CORPORATE FINANCING PITCH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7772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Innofocus Photonics 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749807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0D0E0"/>
                </a:solidFill>
              </a:rPr>
              <a:t>Innovator of Smart 3D Laser Nanoprinting &amp;
Characterisation Equipment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94760"/>
            <a:ext cx="3657600" cy="27432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4069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Melbourne, Australia  · 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9224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D0E0"/>
                </a:solidFill>
              </a:rPr>
              <a:t>CONFIDENTIAL — FOR DISCUSSION PURPOSES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3611880" cy="48463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325880"/>
            <a:ext cx="36118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7" y="134416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🏢  The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Innofocus Photonics Technology Pty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51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Headquartered in Melbourne, Australia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337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1,000 m² Nano Manufacturing Plant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InnovationAus 2025: Translation Hero Award
      &amp; People's Choice Award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0248" y="1325880"/>
            <a:ext cx="3611880" cy="48463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0248" y="1325880"/>
            <a:ext cx="36118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134416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🔬  The Technology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128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World's only commercial 3D refractive index
      imaging system (HoloView 3DRI)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651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Sub-100 nm resolution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3128" y="3337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400× faster than competing systems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4023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Multi-material capability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56448" y="1325880"/>
            <a:ext cx="3611880" cy="48463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1325880"/>
            <a:ext cx="36118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93608" y="1344168"/>
            <a:ext cx="3337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💰  The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7" y="19659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Serving ICT, quantum tech &amp; medical devices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26517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Global nanofabrication equipment market
      growing at double-digit CAGR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3375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Unique IP position — no direct competitor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023360"/>
            <a:ext cx="3246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• Strong academic &amp; industry partnerships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3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A800"/>
                </a:solidFill>
              </a:rPr>
              <a:t>Current nanofabrication tools leave critical gaps: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645920"/>
            <a:ext cx="5577840" cy="21031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645920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55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⚠  Slow throughput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Traditional two-photon lithography and e-beam systems are too slow for
industrial-scale production — holding back commercialisation of quantum
photonics and advanced ICT devices.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1645920"/>
            <a:ext cx="5577840" cy="21031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645920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17556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⚠  Poor resolution &amp; precision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2194560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Most commercial systems cannot reliably achieve sub-100 nm features
required for next-generation photonic integrated circuits and fibre Bragg
gratings.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977639"/>
            <a:ext cx="5577840" cy="21031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" y="3977639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087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⚠  No in-situ characterisation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526279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Fabrication and measurement are separate steps, causing costly re-work
cycles. There is no commercially available system offering real-time 3D
refractive index imaging during manufacturing.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3977639"/>
            <a:ext cx="5577840" cy="210312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3977639"/>
            <a:ext cx="5577840" cy="36576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73368" y="40873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⚠  Limited material versatility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4526279"/>
            <a:ext cx="52120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Existing tools are often constrained to specific material classes,
preventing manufacturers from working across soft, hard, biological,
and semiconductor materials on a single platform.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4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"Innovator of smart 3D laser nanoprinting and characterisation equipment —
achieving perfect nanomanufacturing results has never been easier."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148840"/>
            <a:ext cx="26517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214884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7A800"/>
                </a:solidFill>
              </a:rPr>
              <a:t>Sub-100 nm
Resolution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3063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Surpassing the diffraction
limit for ultra-precise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2148840"/>
            <a:ext cx="26517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64408" y="214884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7A800"/>
                </a:solidFill>
              </a:rPr>
              <a:t>400× Faster
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3063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Industrial throughput
vs conventional systems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4768" y="2148840"/>
            <a:ext cx="26517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44768" y="214884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7A800"/>
                </a:solidFill>
              </a:rPr>
              <a:t>In-Situ 3D
Imaging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063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World-only real-time
3D refractive index imaging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5128" y="2148840"/>
            <a:ext cx="26517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5128" y="214884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25128" y="22860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7A800"/>
                </a:solidFill>
              </a:rPr>
              <a:t>Multi-Material
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063240"/>
            <a:ext cx="2651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Hard to soft, biological
to semiconductor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976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A800"/>
                </a:solidFill>
              </a:rPr>
              <a:t>Product Portfolio: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09160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nanoLAB Series — research-grade 3D laser nanoprinters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047488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nanoFACTORY Series — industrial nanomanufacturing platform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385816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nanoFACTORY i-QPC — quantum photonic chip fabrication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724144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nanoFACTORY r-FBG — automated fibre Bragg grating production (up to km length)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062472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HoloView 3DRI Benchtop — world's only commercial 3D refractive index imaging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00800"/>
            <a:ext cx="112471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Ultrafast FBGs (UFBGs) — femtosecond laser fabricated, reflectivity up to 99.99%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5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Opportunity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11430000" cy="13716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325880"/>
            <a:ext cx="160020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463039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TAM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7A800"/>
                </a:solidFill>
              </a:rPr>
              <a:t>$42B+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2011680"/>
            <a:ext cx="9509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</a:rPr>
              <a:t>Global Nanofabrication &amp;
Photonics Equipment 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926080"/>
            <a:ext cx="10332720" cy="13716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4048" y="2926080"/>
            <a:ext cx="1600200" cy="13716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0632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48840" y="2971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7A800"/>
                </a:solidFill>
              </a:rPr>
              <a:t>$8B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36118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</a:rPr>
              <a:t>Laser Nanofabrication,
FBG &amp; RI Imaging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4526280"/>
            <a:ext cx="9235440" cy="13716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526280"/>
            <a:ext cx="1600200" cy="1371600"/>
          </a:xfrm>
          <a:prstGeom prst="rect">
            <a:avLst/>
          </a:prstGeom>
          <a:solidFill>
            <a:srgbClr val="0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4663440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SOM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45720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7A800"/>
                </a:solidFill>
              </a:rPr>
              <a:t>$250M+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52120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</a:rPr>
              <a:t>Near-Term Addressable
Revenue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03504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Key Growth Drivers: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3550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Quantum computing &amp; photonics commercialisation  ·  5G/6G advanced ICT infrastructure demand  ·  Medical device miniaturisation &amp; biosensing growth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6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Product Portfolio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5623560" cy="2286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325880"/>
            <a:ext cx="562356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nanoLAB Series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53035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Research-grade intelligent 3D laser nanoprinting. Available with integrated HoloView 3DRI (H3D) for world-first in-situ refractive index imaging during fabrication. Target: universities, research institutes.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325880"/>
            <a:ext cx="5623560" cy="2286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325880"/>
            <a:ext cx="562356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3716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nanoFACTORY Series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28800"/>
            <a:ext cx="53035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Industrial-scale nanomanufacturing platform. Variants include i-QPC for quantum photonic chip production and r-FBG for fully automated, AI-assisted fibre Bragg grating fabrication up to km length.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840480"/>
            <a:ext cx="5623560" cy="2286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84048" y="3840480"/>
            <a:ext cx="562356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HoloView 3DRI Benchtop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43400"/>
            <a:ext cx="53035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World's only commercially available equipment for high-resolution in-situ 3D refractive index distribution measurement. Enables non-destructive characterisation of photonic devices and biomaterials.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54496" y="3840480"/>
            <a:ext cx="5623560" cy="2286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54496" y="3840480"/>
            <a:ext cx="562356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886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Ultrafast FBGs &amp; Self-cooling Film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343400"/>
            <a:ext cx="530352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Customisable femtosecond-laser-written fibre Bragg gratings (reflectivity up to 99.99%, high-temperature stable). Plus nanostructured self-cooling film using passive radiative cooling technology.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7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Traction &amp; Milestones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80160"/>
            <a:ext cx="2651760" cy="17373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" y="128016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A800"/>
                </a:solidFill>
              </a:rPr>
              <a:t>1,000 m²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Nano Manufacturing
Plant (NMP)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280160"/>
            <a:ext cx="2651760" cy="17373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28016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A800"/>
                </a:solidFill>
              </a:rPr>
              <a:t>Sub-100 nm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Resolution
Capability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280160"/>
            <a:ext cx="2651760" cy="17373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28016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2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A800"/>
                </a:solidFill>
              </a:rPr>
              <a:t>400×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Speed vs
Conventional Systems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07424" y="1280160"/>
            <a:ext cx="2651760" cy="17373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07424" y="1280160"/>
            <a:ext cx="26517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07424" y="15087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7A800"/>
                </a:solidFill>
              </a:rPr>
              <a:t>99.99%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22860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D0E0"/>
                </a:solidFill>
              </a:rPr>
              <a:t>Max FBG
Reflectivity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2918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A800"/>
                </a:solidFill>
              </a:rPr>
              <a:t>Key Milestones: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4903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Company founded — spin-out from RMIT University nanophotonics research group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14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nanoLAB Series launched — first commercial intelligent 3D laser nanofabrication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8055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HoloView 3DRI released — world's only commercial 3D refractive index imaging system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846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nanoFACTORY i-QPC &amp; r-FBG introduced — targeting quantum photonics and fibre sensing markets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12079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Nano Manufacturing Plant (NMP) operational — 1,000 m² facility in Melbourne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InnovationAus 2025 Awards — Translation Hero Award &amp; People's Choice Award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▸  Partnerships with Coherent, Olympus, RMIT, Swinburne, UCLA, Peking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FINANCIALS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8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Financial Projections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0D0E0"/>
                </a:solidFill>
              </a:rPr>
              <a:t>5-Year Forecast  (AUD millions)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463040"/>
            <a:ext cx="29260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4904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63040"/>
            <a:ext cx="155448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490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FY1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1463040"/>
            <a:ext cx="155448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1490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FY2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5079" y="1463040"/>
            <a:ext cx="155448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19" y="1490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FY3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09560" y="1463040"/>
            <a:ext cx="155448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1490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FY4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464040" y="1463040"/>
            <a:ext cx="1554480" cy="402336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149047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FY5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865376"/>
            <a:ext cx="29260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892807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865376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189280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1865376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189280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5079" y="1865376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19" y="189280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09560" y="1865376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189280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64040" y="1865376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55480" y="1892807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304288"/>
            <a:ext cx="29260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23317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Gross Profit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2304288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37560" y="2331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0600" y="2304288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2331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79" y="2304288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46519" y="2331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09560" y="2304288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01000" y="2331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464040" y="2304288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555480" y="2331720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2743200"/>
            <a:ext cx="29260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277063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EBITDA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2743200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37560" y="2770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600" y="2743200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92040" y="2770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55079" y="2743200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46519" y="2770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09560" y="2743200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01000" y="2770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64040" y="2743200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555480" y="2770632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182112"/>
            <a:ext cx="29260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11479" y="320954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Net Profit / (Loss)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46120" y="3182112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37560" y="320954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0600" y="3182112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92040" y="320954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55079" y="3182112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46519" y="320954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909560" y="3182112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001000" y="320954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64040" y="3182112"/>
            <a:ext cx="1554480" cy="420624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555480" y="3209544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$[X]M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" y="3621024"/>
            <a:ext cx="29260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79" y="36484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Gross Margin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246120" y="3621024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337560" y="364845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[X]%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800600" y="3621024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92040" y="364845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[X]%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55079" y="3621024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446519" y="364845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[X]%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09560" y="3621024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01000" y="364845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[X]%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464040" y="3621024"/>
            <a:ext cx="1554480" cy="420624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555480" y="3648456"/>
            <a:ext cx="1463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7A800"/>
                </a:solidFill>
              </a:rPr>
              <a:t>[X]%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0040" y="44348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Revenue streams: Equipment sales (nanoLAB / nanoFACTORY / HoloView), consumables (UFBGs, films), service contracts, licensing.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" y="6492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C0D0E0"/>
                </a:solidFill>
              </a:rPr>
              <a:t>* Projections require input from management. Placeholders shown — replace with audited / management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of Funds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A800"/>
                </a:solidFill>
              </a:rPr>
              <a:t>Total Raise:  $[X] Million AUD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1828800"/>
            <a:ext cx="1143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1874519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2E"/>
                </a:solidFill>
              </a:rPr>
              <a:t>[X]%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240280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A2E"/>
                </a:solidFill>
              </a:rPr>
              <a:t>$[X]M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8288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Manufacturing Scale-Up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176272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Expand Nano Manufacturing Plant capacity, new CNC and laser tooling for nanoFACTORY production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" y="2724912"/>
            <a:ext cx="1143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2770632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2E"/>
                </a:solidFill>
              </a:rPr>
              <a:t>[X]%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3136392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A2E"/>
                </a:solidFill>
              </a:rPr>
              <a:t>$[X]M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7249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R&amp;D — Next-Generation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072384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HoloView v2, nanoFACTORY i-QPC v2, AI-enhanced process control, new self-cooling materials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3621024"/>
            <a:ext cx="1143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666744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2E"/>
                </a:solidFill>
              </a:rPr>
              <a:t>[X]%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032504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A2E"/>
                </a:solidFill>
              </a:rPr>
              <a:t>$[X]M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362102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International Market Expansion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968496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Sales offices in USA, Europe, and Asia; channel partnerships; trade show presence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" y="4517136"/>
            <a:ext cx="1143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562855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2E"/>
                </a:solidFill>
              </a:rPr>
              <a:t>[X]%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" y="492861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A2E"/>
                </a:solidFill>
              </a:rPr>
              <a:t>$[X]M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51713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Talent &amp; Operations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4864607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Hire engineers, application scientists, and sales staff; strengthen IP and legal infrastructure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5413248"/>
            <a:ext cx="1143000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458968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1A2E"/>
                </a:solidFill>
              </a:rPr>
              <a:t>[X]%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" y="5824728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A1A2E"/>
                </a:solidFill>
              </a:rPr>
              <a:t>$[X]M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54132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Working Capital &amp; Reserves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57607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Inventory, customer credit terms, operational buffer for 18-month runway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COMPETITION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10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Competitive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325880"/>
            <a:ext cx="347472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344168"/>
            <a:ext cx="338327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A2E"/>
                </a:solidFill>
              </a:rPr>
              <a:t>Capability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58768" y="1325880"/>
            <a:ext cx="1783080" cy="457200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0207" y="1344168"/>
            <a:ext cx="1691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A2E"/>
                </a:solidFill>
              </a:rPr>
              <a:t>innOFocus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41848" y="1325880"/>
            <a:ext cx="17830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33288" y="1344168"/>
            <a:ext cx="1691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Nanoscribe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24927" y="1325880"/>
            <a:ext cx="17830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16367" y="1344168"/>
            <a:ext cx="1691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Heidelberg
Instruments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08008" y="1325880"/>
            <a:ext cx="1783080" cy="457200"/>
          </a:xfrm>
          <a:prstGeom prst="rect">
            <a:avLst/>
          </a:prstGeom>
          <a:solidFill>
            <a:srgbClr val="006E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9448" y="1344168"/>
            <a:ext cx="169163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Standard
FBG Systems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1783080"/>
            <a:ext cx="347472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1965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Sub-100 nm resolution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58768" y="1783080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0207" y="181965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41848" y="1783080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33288" y="181965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24927" y="1783080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7" y="181965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08008" y="1783080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181965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4048" y="2258568"/>
            <a:ext cx="347472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229514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400× faster throughput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58768" y="2258568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50207" y="229514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41848" y="2258568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33288" y="229514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24927" y="2258568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229514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08008" y="2258568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9448" y="229514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4048" y="2734056"/>
            <a:ext cx="347472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2770632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In-situ 3D RI imaging (commercial)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58768" y="2734056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0207" y="2770632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41848" y="2734056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33288" y="2770632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24927" y="2734056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16367" y="2770632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08008" y="2734056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9448" y="2770632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4048" y="3209544"/>
            <a:ext cx="347472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3246120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Multi-material capability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858768" y="3209544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950207" y="32461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41848" y="3209544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33288" y="32461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✔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24927" y="3209544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16367" y="32461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08008" y="3209544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3246120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4048" y="3685032"/>
            <a:ext cx="347472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488" y="3721608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FBG (km-length, automated)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858768" y="3685032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950207" y="3721608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41848" y="3685032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33288" y="3721608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424927" y="3685032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16367" y="3721608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208008" y="3685032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299448" y="3721608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4048" y="4160520"/>
            <a:ext cx="347472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5488" y="4197096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Quantum photonic chip ready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858768" y="4160520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950207" y="419709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641848" y="4160520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733288" y="419709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424927" y="4160520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516367" y="419709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ECC71"/>
                </a:solidFill>
              </a:rPr>
              <a:t>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208008" y="4160520"/>
            <a:ext cx="1783080" cy="457200"/>
          </a:xfrm>
          <a:prstGeom prst="rect">
            <a:avLst/>
          </a:prstGeom>
          <a:solidFill>
            <a:srgbClr val="0E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99448" y="4197096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4048" y="4636008"/>
            <a:ext cx="347472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" y="4672584"/>
            <a:ext cx="3383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D0E0"/>
                </a:solidFill>
              </a:rPr>
              <a:t>Australian IP &amp; manufacturing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58768" y="4636008"/>
            <a:ext cx="1783080" cy="457200"/>
          </a:xfrm>
          <a:prstGeom prst="rect">
            <a:avLst/>
          </a:prstGeom>
          <a:solidFill>
            <a:srgbClr val="0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50207" y="467258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7A800"/>
                </a:solidFill>
              </a:rPr>
              <a:t>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641848" y="4636008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733288" y="467258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24927" y="4636008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16367" y="467258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208008" y="4636008"/>
            <a:ext cx="1783080" cy="4572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99448" y="4672584"/>
            <a:ext cx="16916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E74C3C"/>
                </a:solidFill>
              </a:rPr>
              <a:t>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201168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11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Leadership &amp; Partners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1152144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98448"/>
            <a:ext cx="56235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7" y="1527048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1527048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[Founder / CEO]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8470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Chief Executive Officer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244144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0E0"/>
                </a:solidFill>
              </a:rPr>
              <a:t>Deep expertise in photonics commercialisation; led company from RMIT spin-out to international sales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54496" y="1298448"/>
            <a:ext cx="56235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91656" y="1527048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1527048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1775" y="1463039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[CTO]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184708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Chief Technology Officer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244144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0E0"/>
                </a:solidFill>
              </a:rPr>
              <a:t>PhD in nanophotonics; architect of HoloView 3DRI and nanoFACTORY platform; multiple patents held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" y="3447288"/>
            <a:ext cx="56235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21207" y="3675887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" y="3675887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36118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[CFO]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9959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Chief Financial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7" y="459028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0E0"/>
                </a:solidFill>
              </a:rPr>
              <a:t>Background in deep-tech and hardware company financing; experienced in equity and debt raising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54496" y="3447288"/>
            <a:ext cx="5623560" cy="192024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91656" y="3675887"/>
            <a:ext cx="777240" cy="7772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3675887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361188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[COO]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51775" y="399592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</a:rPr>
              <a:t>Chief Operating Officer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4590288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0E0"/>
                </a:solidFill>
              </a:rPr>
              <a:t>Managed NMP scale-up; expertise in precision manufacturing and supply chain for photonics hardware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870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7A800"/>
                </a:solidFill>
              </a:rPr>
              <a:t>Strategic Partners &amp; Collaborators: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217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D0E0"/>
                </a:solidFill>
              </a:rPr>
              <a:t>RMIT University  ·  Swinburne University  ·  UCLA  ·  Peking University  ·  Coherent  ·  Olympus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0"/>
            <a:ext cx="194767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0D0E0"/>
                </a:solidFill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00B4D8"/>
                </a:solidFill>
              </a:rPr>
              <a:t>THE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63040"/>
            <a:ext cx="7589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Partner with innOFocus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C0D0E0"/>
                </a:solidFill>
              </a:rPr>
              <a:t>to lead the global nanofabrication revolution.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26080"/>
            <a:ext cx="4572000" cy="27432"/>
          </a:xfrm>
          <a:prstGeom prst="rect">
            <a:avLst/>
          </a:prstGeom>
          <a:solidFill>
            <a:srgbClr val="F7A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Raise Amount: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2004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$[X] Million AUD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Instrument: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4903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[Equity / Convertible Note / Term Loan]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97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Pre-Money Valuation: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29768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$[X]M AUD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846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Target Close: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8463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[Q? 2026]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3949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Lead Investor: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53949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[Open / Anchor TBC]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9436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Use of Proceeds: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943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Manufacturing scale-up, R&amp;D, global expansion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00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7A800"/>
                </a:solidFill>
              </a:rPr>
              <a:t>Contact: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379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0E0"/>
                </a:solidFill>
              </a:rPr>
              <a:t>service@innofocus.com.au  ·  +61 3 9077 8119  ·  innofocus.com.au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